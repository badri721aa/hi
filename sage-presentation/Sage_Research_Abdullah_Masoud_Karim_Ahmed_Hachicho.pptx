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1aee0ec-ed32-e0e8-cec8-52d7eb4ee780}">
          <p14:sldIdLst>
            <p14:sldId id="256"/>
          </p14:sldIdLst>
        </p14:section>
        <p14:section name="History" id="{893ec841-c483-32de-48f7-7124ea7c4412}">
          <p14:sldIdLst>
            <p14:sldId id="257"/>
          </p14:sldIdLst>
        </p14:section>
        <p14:section name="Uses" id="{46ccb00f-dadd-ff1b-045e-7e824c2b6eff}">
          <p14:sldIdLst>
            <p14:sldId id="258"/>
          </p14:sldIdLst>
        </p14:section>
        <p14:section name="Medicine Bag" id="{ee3d5e33-0d92-0000-9403-3614d82cccab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ourselves: Abdullah Masoud and Karim Ahmed Hachicho, Grade 8. Our research topic is sage: its history, its many uses, and why it might be carried in a Native American medicine bag.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Sage has been valued for thousands of years: in Egypt, Greece and Rome, medieval Europe, through trade with China, and by Native nations in the Americas who still use white sage in ceremony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Sage is used in six main ways: cooking, medicine, ceremony, gardening, around the home, and in personal care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medicine bag is a personal, sacred pouch. Sage may be inside because it purifies, protects, carries prayers and heals. It is one of the Four Sacred Medicines. Beliefs differ from nation to 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18872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9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6949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48056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Sacred Sage  ·  Grade 8 English Research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ge bundle art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498080" y="82296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ENGLISH  ·  GRADE 8  ·  TERM 1 RESEARCH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83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Sacred Sage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History, uses, and its place in the Native American medicine bag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434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Presented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Abdullah Masoud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Karim Ahmed Hachicho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history of sage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Named from the Latin </a:t>
            </a:r>
            <a:pPr indent="0" marL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salvere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 (“to heal”), sage has been trusted as medicine for over 2,000 years.</a:t>
            </a:r>
            <a:endParaRPr lang="en-US" sz="1600" dirty="0"/>
          </a:p>
        </p:txBody>
      </p:sp>
      <p:sp>
        <p:nvSpPr>
          <p:cNvPr id="4" name="Timeline line"/>
          <p:cNvSpPr/>
          <p:nvPr/>
        </p:nvSpPr>
        <p:spPr>
          <a:xfrm>
            <a:off x="1655064" y="2331720"/>
            <a:ext cx="8851392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5" name="Timeline 1 circle"/>
          <p:cNvSpPr/>
          <p:nvPr/>
        </p:nvSpPr>
        <p:spPr>
          <a:xfrm>
            <a:off x="1197864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imelin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103120"/>
            <a:ext cx="457200" cy="457200"/>
          </a:xfrm>
          <a:prstGeom prst="rect">
            <a:avLst/>
          </a:prstGeom>
        </p:spPr>
      </p:pic>
      <p:sp>
        <p:nvSpPr>
          <p:cNvPr id="7" name="Timeline card 1"/>
          <p:cNvSpPr/>
          <p:nvPr/>
        </p:nvSpPr>
        <p:spPr>
          <a:xfrm>
            <a:off x="640080" y="30632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32461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Ancient Egypt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23360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Used as a fertility medicine and in healing remedies.</a:t>
            </a:r>
            <a:endParaRPr lang="en-US" sz="1400" dirty="0"/>
          </a:p>
        </p:txBody>
      </p:sp>
      <p:sp>
        <p:nvSpPr>
          <p:cNvPr id="10" name="Timeline 2 circle"/>
          <p:cNvSpPr/>
          <p:nvPr/>
        </p:nvSpPr>
        <p:spPr>
          <a:xfrm>
            <a:off x="3410712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Timelin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103120"/>
            <a:ext cx="457200" cy="457200"/>
          </a:xfrm>
          <a:prstGeom prst="rect">
            <a:avLst/>
          </a:prstGeom>
        </p:spPr>
      </p:pic>
      <p:sp>
        <p:nvSpPr>
          <p:cNvPr id="12" name="Timeline card 2"/>
          <p:cNvSpPr/>
          <p:nvPr/>
        </p:nvSpPr>
        <p:spPr>
          <a:xfrm>
            <a:off x="2852928" y="30632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035808" y="32461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Greece &amp; Rome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35808" y="4023360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Called herba sacra, the “sacred herb,” by doctors like Dioscorides and Pliny.</a:t>
            </a:r>
            <a:endParaRPr lang="en-US" sz="1400" dirty="0"/>
          </a:p>
        </p:txBody>
      </p:sp>
      <p:sp>
        <p:nvSpPr>
          <p:cNvPr id="15" name="Timeline 3 circle"/>
          <p:cNvSpPr/>
          <p:nvPr/>
        </p:nvSpPr>
        <p:spPr>
          <a:xfrm>
            <a:off x="562356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Timelin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03120"/>
            <a:ext cx="457200" cy="457200"/>
          </a:xfrm>
          <a:prstGeom prst="rect">
            <a:avLst/>
          </a:prstGeom>
        </p:spPr>
      </p:pic>
      <p:sp>
        <p:nvSpPr>
          <p:cNvPr id="17" name="Timeline card 3"/>
          <p:cNvSpPr/>
          <p:nvPr/>
        </p:nvSpPr>
        <p:spPr>
          <a:xfrm>
            <a:off x="5065776" y="30632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5248656" y="32461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Ages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48656" y="4023360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Charlemagne had it grown on royal farms. A saying asked: “Why should a man die while sage grows in his garden?”</a:t>
            </a:r>
            <a:endParaRPr lang="en-US" sz="1400" dirty="0"/>
          </a:p>
        </p:txBody>
      </p:sp>
      <p:sp>
        <p:nvSpPr>
          <p:cNvPr id="20" name="Timeline 4 circle"/>
          <p:cNvSpPr/>
          <p:nvPr/>
        </p:nvSpPr>
        <p:spPr>
          <a:xfrm>
            <a:off x="7836408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Timelin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103120"/>
            <a:ext cx="457200" cy="457200"/>
          </a:xfrm>
          <a:prstGeom prst="rect">
            <a:avLst/>
          </a:prstGeom>
        </p:spPr>
      </p:pic>
      <p:sp>
        <p:nvSpPr>
          <p:cNvPr id="22" name="Timeline card 4"/>
          <p:cNvSpPr/>
          <p:nvPr/>
        </p:nvSpPr>
        <p:spPr>
          <a:xfrm>
            <a:off x="7278624" y="30632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7461504" y="32461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1600s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461504" y="4023360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Dutch traders swapped sage with China — up to 3 chests of tea for 1 of sage.</a:t>
            </a:r>
            <a:endParaRPr lang="en-US" sz="1400" dirty="0"/>
          </a:p>
        </p:txBody>
      </p:sp>
      <p:sp>
        <p:nvSpPr>
          <p:cNvPr id="25" name="Timeline 5 circle"/>
          <p:cNvSpPr/>
          <p:nvPr/>
        </p:nvSpPr>
        <p:spPr>
          <a:xfrm>
            <a:off x="10049256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Timelin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103120"/>
            <a:ext cx="457200" cy="457200"/>
          </a:xfrm>
          <a:prstGeom prst="rect">
            <a:avLst/>
          </a:prstGeom>
        </p:spPr>
      </p:pic>
      <p:sp>
        <p:nvSpPr>
          <p:cNvPr id="27" name="Timeline card 5"/>
          <p:cNvSpPr/>
          <p:nvPr/>
        </p:nvSpPr>
        <p:spPr>
          <a:xfrm>
            <a:off x="9491472" y="3063240"/>
            <a:ext cx="2029968" cy="30175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9674352" y="32461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Americas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674352" y="4023360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 thousands of years, Native nations such as the Chumash and Cahuilla have used white sage in ceremony.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many uses of sage</a:t>
            </a:r>
            <a:endParaRPr lang="en-US" sz="3600" dirty="0"/>
          </a:p>
        </p:txBody>
      </p:sp>
      <p:sp>
        <p:nvSpPr>
          <p:cNvPr id="3" name="Use card 1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4" name="Cooking 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ok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37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Seasons stuffing, sausages, pasta and roasted vegetables with an earthy flavor.</a:t>
            </a:r>
            <a:endParaRPr lang="en-US" sz="1400" dirty="0"/>
          </a:p>
        </p:txBody>
      </p:sp>
      <p:sp>
        <p:nvSpPr>
          <p:cNvPr id="8" name="Use card 2"/>
          <p:cNvSpPr/>
          <p:nvPr/>
        </p:nvSpPr>
        <p:spPr>
          <a:xfrm>
            <a:off x="43205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9" name="Medicine circle"/>
          <p:cNvSpPr/>
          <p:nvPr/>
        </p:nvSpPr>
        <p:spPr>
          <a:xfrm>
            <a:off x="459486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Medicin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63540" y="1737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9486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Sage tea and gargles soothe sore throats, coughs and upset stomachs.</a:t>
            </a:r>
            <a:endParaRPr lang="en-US" sz="1400" dirty="0"/>
          </a:p>
        </p:txBody>
      </p:sp>
      <p:sp>
        <p:nvSpPr>
          <p:cNvPr id="13" name="Use card 3"/>
          <p:cNvSpPr/>
          <p:nvPr/>
        </p:nvSpPr>
        <p:spPr>
          <a:xfrm>
            <a:off x="80924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14" name="Ceremony circle"/>
          <p:cNvSpPr/>
          <p:nvPr/>
        </p:nvSpPr>
        <p:spPr>
          <a:xfrm>
            <a:off x="8366760" y="17373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Ceremon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19088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1737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Ceremony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Burned in “smudging” to cleanse people and places and to carry prayers.</a:t>
            </a:r>
            <a:endParaRPr lang="en-US" sz="1400" dirty="0"/>
          </a:p>
        </p:txBody>
      </p:sp>
      <p:sp>
        <p:nvSpPr>
          <p:cNvPr id="18" name="Use card 4"/>
          <p:cNvSpPr/>
          <p:nvPr/>
        </p:nvSpPr>
        <p:spPr>
          <a:xfrm>
            <a:off x="54864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19" name="Gardens circle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Garden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3776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Gardens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29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Its purple-blue flowers feed bees, butterflies and hummingbirds.</a:t>
            </a:r>
            <a:endParaRPr lang="en-US" sz="1400" dirty="0"/>
          </a:p>
        </p:txBody>
      </p:sp>
      <p:sp>
        <p:nvSpPr>
          <p:cNvPr id="23" name="Use card 5"/>
          <p:cNvSpPr/>
          <p:nvPr/>
        </p:nvSpPr>
        <p:spPr>
          <a:xfrm>
            <a:off x="432054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24" name="Household circle"/>
          <p:cNvSpPr/>
          <p:nvPr/>
        </p:nvSpPr>
        <p:spPr>
          <a:xfrm>
            <a:off x="4594860" y="42062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Househol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437769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354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94860" y="5029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Hung in homes to freshen the air and help keep insects away.</a:t>
            </a:r>
            <a:endParaRPr lang="en-US" sz="1400" dirty="0"/>
          </a:p>
        </p:txBody>
      </p:sp>
      <p:sp>
        <p:nvSpPr>
          <p:cNvPr id="28" name="Use card 6"/>
          <p:cNvSpPr/>
          <p:nvPr/>
        </p:nvSpPr>
        <p:spPr>
          <a:xfrm>
            <a:off x="809244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29" name="Personal care circle"/>
          <p:cNvSpPr/>
          <p:nvPr/>
        </p:nvSpPr>
        <p:spPr>
          <a:xfrm>
            <a:off x="8366760" y="42062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Personal car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210" y="437769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3544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care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366760" y="5029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Found in soaps, deodorants and mouthwashes for its clean scent.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sage is in the medicine bag</a:t>
            </a:r>
            <a:endParaRPr lang="en-US" sz="3600" dirty="0"/>
          </a:p>
        </p:txBody>
      </p:sp>
      <p:sp>
        <p:nvSpPr>
          <p:cNvPr id="3" name="Definition panel"/>
          <p:cNvSpPr/>
          <p:nvPr/>
        </p:nvSpPr>
        <p:spPr>
          <a:xfrm>
            <a:off x="548640" y="146304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4" name="Medicine bag circle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edicine ba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888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88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medicine bag is a small leather pouch worn or carried close to the body. “Medicine” means spiritual power and protection, and what is inside is private and sacred.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892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Sage is one of the Four Sacred Medicines, with tobacco, sweetgrass and cedar.</a:t>
            </a:r>
            <a:endParaRPr lang="en-US" sz="1300" dirty="0"/>
          </a:p>
        </p:txBody>
      </p:sp>
      <p:sp>
        <p:nvSpPr>
          <p:cNvPr id="8" name="Reason card 1"/>
          <p:cNvSpPr/>
          <p:nvPr/>
        </p:nvSpPr>
        <p:spPr>
          <a:xfrm>
            <a:off x="4572000" y="146304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9" name="Purification circle"/>
          <p:cNvSpPr/>
          <p:nvPr/>
        </p:nvSpPr>
        <p:spPr>
          <a:xfrm>
            <a:off x="4846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urifica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Purification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560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Believed to cleanse away negative energy, bad feelings and illness.</a:t>
            </a:r>
            <a:endParaRPr lang="en-US" sz="1400" dirty="0"/>
          </a:p>
        </p:txBody>
      </p:sp>
      <p:sp>
        <p:nvSpPr>
          <p:cNvPr id="13" name="Reason card 2"/>
          <p:cNvSpPr/>
          <p:nvPr/>
        </p:nvSpPr>
        <p:spPr>
          <a:xfrm>
            <a:off x="8183880" y="146304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14" name="Protection circle"/>
          <p:cNvSpPr/>
          <p:nvPr/>
        </p:nvSpPr>
        <p:spPr>
          <a:xfrm>
            <a:off x="845820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rotec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19088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26880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2560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Carrying it is thought to guard the wearer from harm.</a:t>
            </a:r>
            <a:endParaRPr lang="en-US" sz="1400" dirty="0"/>
          </a:p>
        </p:txBody>
      </p:sp>
      <p:sp>
        <p:nvSpPr>
          <p:cNvPr id="18" name="Reason card 3"/>
          <p:cNvSpPr/>
          <p:nvPr/>
        </p:nvSpPr>
        <p:spPr>
          <a:xfrm>
            <a:off x="4572000" y="379476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19" name="Prayer circle"/>
          <p:cNvSpPr/>
          <p:nvPr/>
        </p:nvSpPr>
        <p:spPr>
          <a:xfrm>
            <a:off x="4846320" y="40690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Pray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42405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Prayer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4892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Its smoke carries prayers to the Creator, keeping the wearer connected.</a:t>
            </a:r>
            <a:endParaRPr lang="en-US" sz="1400" dirty="0"/>
          </a:p>
        </p:txBody>
      </p:sp>
      <p:sp>
        <p:nvSpPr>
          <p:cNvPr id="23" name="Reason card 4"/>
          <p:cNvSpPr/>
          <p:nvPr/>
        </p:nvSpPr>
        <p:spPr>
          <a:xfrm>
            <a:off x="8183880" y="3794760"/>
            <a:ext cx="33832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1F2B24">
                <a:alpha val="10000"/>
              </a:srgbClr>
            </a:outerShdw>
          </a:effectLst>
        </p:spPr>
      </p:sp>
      <p:sp>
        <p:nvSpPr>
          <p:cNvPr id="24" name="Healing circle"/>
          <p:cNvSpPr/>
          <p:nvPr/>
        </p:nvSpPr>
        <p:spPr>
          <a:xfrm>
            <a:off x="8458200" y="4069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Heal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424053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2688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Healing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8458200" y="4892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 a medicine plant, it keeps healing power close to the body.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cred Sage">
  <a:themeElements>
    <a:clrScheme name="Sacred Sage">
      <a:dk1>
        <a:srgbClr val="1F2B24"/>
      </a:dk1>
      <a:lt1>
        <a:srgbClr val="FFFFFF"/>
      </a:lt1>
      <a:dk2>
        <a:srgbClr val="4A5A50"/>
      </a:dk2>
      <a:lt2>
        <a:srgbClr val="F3F6F1"/>
      </a:lt2>
      <a:accent1>
        <a:srgbClr val="5E8165"/>
      </a:accent1>
      <a:accent2>
        <a:srgbClr val="7E6BA6"/>
      </a:accent2>
      <a:accent3>
        <a:srgbClr val="B9824F"/>
      </a:accent3>
      <a:accent4>
        <a:srgbClr val="A9C2AA"/>
      </a:accent4>
      <a:accent5>
        <a:srgbClr val="DCE6D9"/>
      </a:accent5>
      <a:accent6>
        <a:srgbClr val="E7E1F0"/>
      </a:accent6>
      <a:hlink>
        <a:srgbClr val="5E8165"/>
      </a:hlink>
      <a:folHlink>
        <a:srgbClr val="7E6BA6"/>
      </a:folHlink>
    </a:clrScheme>
    <a:fontScheme name="Sacred S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Sacred Sage</dc:title>
  <dc:subject>PptxGenJS Presentation</dc:subject>
  <dc:creator>Abdullah Masoud &amp; Karim Ahmed Hachicho</dc:creator>
  <cp:lastModifiedBy>Abdullah Masoud &amp; Karim Ahmed Hachicho</cp:lastModifiedBy>
  <cp:revision>1</cp:revision>
  <dcterms:created xsi:type="dcterms:W3CDTF">2026-10-04T05:28:49Z</dcterms:created>
  <dcterms:modified xsi:type="dcterms:W3CDTF">2026-10-04T05:28:49Z</dcterms:modified>
</cp:coreProperties>
</file>