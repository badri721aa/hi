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0cbf7811-d904-63a4-250f-97dc5a6828e9}">
          <p14:sldIdLst>
            <p14:sldId id="256"/>
            <p14:sldId id="257"/>
          </p14:sldIdLst>
        </p14:section>
        <p14:section name="History" id="{9e5a5514-f53a-febc-e7e1-3ca5f9dbad34}">
          <p14:sldIdLst>
            <p14:sldId id="258"/>
            <p14:sldId id="259"/>
            <p14:sldId id="260"/>
          </p14:sldIdLst>
        </p14:section>
        <p14:section name="Uses" id="{9be1441c-7918-2aee-fca3-2187fcb3b467}">
          <p14:sldIdLst>
            <p14:sldId id="261"/>
            <p14:sldId id="262"/>
            <p14:sldId id="263"/>
          </p14:sldIdLst>
        </p14:section>
        <p14:section name="Medicine Bag" id="{d7010df5-272c-33bd-5583-e303c06c0c10}">
          <p14:sldIdLst>
            <p14:sldId id="264"/>
            <p14:sldId id="265"/>
            <p14:sldId id="266"/>
            <p14:sldId id="267"/>
            <p14:sldId id="268"/>
          </p14:sldIdLst>
        </p14:section>
        <p14:section name="Conclusion" id="{a17b2e22-be39-a860-b965-cace95e92449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ourselves: Abdullah Masoud and Karim Ahmed Hachicho, Grade 8. Our research topic is sage: its history, its many uses, and why it might be carried in a Native American medicine bag.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Sage is in the Salvia genus. The name comes from the Latin salvere, meaning to save or to heal, which shows how long people have trusted it as medicine.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 through the timeline. Sage has been valued for thousands of years across many civilizations — Egypt, Greece, Rome, medieval Europe and even China through trade.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White sage is native to Southern California and Baja California. Different nations used different local sages. Native ceremonies were banned for decades until the 1978 American Indian Religious Freedom 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Sage is used in six main ways: cooking, medicine, ceremony, gardening, around the home, and in personal care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Many traditional uses of sage are now being studied by scientists. Sage contains antioxidants and can fight some bacteria, but researchers say more studies are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medicine bag is a personal pouch. The word medicine means spiritual power and protection. Items inside are private and sacred — sage is one of the most common.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our main question. Sage may be in a medicine bag for purification, protection, prayer and healing. Different nations have different teachings.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Sage is one of the four sacred medicines together with tobacco, sweetgrass and cedar. That is another big reason it might be kept in a medicine bag.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Because sage is sacred, it is important to use it respectfully: grow your own, support Native growers, do not pick wild sage, and learn about the meaning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Summarize the three key takeaways, thank the class, and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188720"/>
            <a:ext cx="3657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743200"/>
            <a:ext cx="69494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480560"/>
            <a:ext cx="68580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Sacred Sage  ·  Grade 8 English Research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age bundle art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498080" y="822960"/>
            <a:ext cx="5120640" cy="51206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4"/>
                </a:solidFill>
              </a:rPr>
              <a:t>ENGLISH  ·  GRADE 8  ·  TERM 1 RESEARCH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78308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Sacred Sage</a:t>
            </a:r>
            <a:endParaRPr lang="en-US" sz="7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063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chemeClr val="accent5"/>
                </a:solidFill>
              </a:rPr>
              <a:t>History, uses, and its place in the Native American medicine bag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44348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Presented by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Abdullah Masoud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Karim Ahmed Hachicho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Meet the plant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Sage is a fragrant herb with soft, silvery-green leaves. It belongs to the genus </a:t>
            </a:r>
            <a:pPr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Salvia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, part of the mint family.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Two kinds matter most in our research: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accent1"/>
                </a:solidFill>
              </a:rPr>
              <a:t>Common (garden) sage — </a:t>
            </a:r>
            <a:pPr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Salvia officinalis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, native to the Mediterranean, used in cooking and medicine.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accent2"/>
                </a:solidFill>
              </a:rPr>
              <a:t>White sage — </a:t>
            </a:r>
            <a:pPr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Salvia apiana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, native to Southern California and Baja California, sacred to many Native nations.</a:t>
            </a:r>
            <a:endParaRPr lang="en-US" sz="1700" dirty="0"/>
          </a:p>
        </p:txBody>
      </p:sp>
      <p:sp>
        <p:nvSpPr>
          <p:cNvPr id="4" name="Stat card 1"/>
          <p:cNvSpPr/>
          <p:nvPr/>
        </p:nvSpPr>
        <p:spPr>
          <a:xfrm>
            <a:off x="6766560" y="1463040"/>
            <a:ext cx="4846320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040880" y="146304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~1,000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9144000" y="146304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species in the Salvia genus worldwide</a:t>
            </a:r>
            <a:endParaRPr lang="en-US" sz="1400" dirty="0"/>
          </a:p>
        </p:txBody>
      </p:sp>
      <p:sp>
        <p:nvSpPr>
          <p:cNvPr id="7" name="Stat card 2"/>
          <p:cNvSpPr/>
          <p:nvPr/>
        </p:nvSpPr>
        <p:spPr>
          <a:xfrm>
            <a:off x="6766560" y="2926080"/>
            <a:ext cx="4846320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040880" y="292608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“Salvere”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9144000" y="292608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Latin for “to save” or “to heal” — the root of the name</a:t>
            </a:r>
            <a:endParaRPr lang="en-US" sz="1400" dirty="0"/>
          </a:p>
        </p:txBody>
      </p:sp>
      <p:sp>
        <p:nvSpPr>
          <p:cNvPr id="10" name="Stat card 3"/>
          <p:cNvSpPr/>
          <p:nvPr/>
        </p:nvSpPr>
        <p:spPr>
          <a:xfrm>
            <a:off x="6766560" y="4389120"/>
            <a:ext cx="4846320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040880" y="43891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2,000+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0" y="43891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years of recorded use as a healing herb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18872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74320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The History of Sage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48056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From ancient Egypt to the Native peoples of the Americas</a:t>
            </a:r>
            <a:endParaRPr lang="en-US" sz="1800" dirty="0"/>
          </a:p>
        </p:txBody>
      </p:sp>
      <p:pic>
        <p:nvPicPr>
          <p:cNvPr id="5" name="Temple art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8138160" y="146304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journey through time</a:t>
            </a:r>
            <a:endParaRPr lang="en-US" sz="3600" dirty="0"/>
          </a:p>
        </p:txBody>
      </p:sp>
      <p:sp>
        <p:nvSpPr>
          <p:cNvPr id="3" name="Timeline line"/>
          <p:cNvSpPr/>
          <p:nvPr/>
        </p:nvSpPr>
        <p:spPr>
          <a:xfrm>
            <a:off x="1655064" y="2148840"/>
            <a:ext cx="8851392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dash"/>
          </a:ln>
        </p:spPr>
      </p:sp>
      <p:sp>
        <p:nvSpPr>
          <p:cNvPr id="4" name="Timeline 1 circle"/>
          <p:cNvSpPr/>
          <p:nvPr/>
        </p:nvSpPr>
        <p:spPr>
          <a:xfrm>
            <a:off x="1197864" y="169164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Timelin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6464" y="1920240"/>
            <a:ext cx="457200" cy="457200"/>
          </a:xfrm>
          <a:prstGeom prst="rect">
            <a:avLst/>
          </a:prstGeom>
        </p:spPr>
      </p:pic>
      <p:sp>
        <p:nvSpPr>
          <p:cNvPr id="6" name="Timeline card 1"/>
          <p:cNvSpPr/>
          <p:nvPr/>
        </p:nvSpPr>
        <p:spPr>
          <a:xfrm>
            <a:off x="640080" y="2880360"/>
            <a:ext cx="2029968" cy="30632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3063240"/>
            <a:ext cx="166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Ancient Egypt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86200"/>
            <a:ext cx="16642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Egyptians used sage as a fertility medicine and in preserving remedies.</a:t>
            </a:r>
            <a:endParaRPr lang="en-US" sz="1400" dirty="0"/>
          </a:p>
        </p:txBody>
      </p:sp>
      <p:sp>
        <p:nvSpPr>
          <p:cNvPr id="9" name="Timeline 2 circle"/>
          <p:cNvSpPr/>
          <p:nvPr/>
        </p:nvSpPr>
        <p:spPr>
          <a:xfrm>
            <a:off x="3410712" y="169164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Timelin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920240"/>
            <a:ext cx="457200" cy="457200"/>
          </a:xfrm>
          <a:prstGeom prst="rect">
            <a:avLst/>
          </a:prstGeom>
        </p:spPr>
      </p:pic>
      <p:sp>
        <p:nvSpPr>
          <p:cNvPr id="11" name="Timeline card 2"/>
          <p:cNvSpPr/>
          <p:nvPr/>
        </p:nvSpPr>
        <p:spPr>
          <a:xfrm>
            <a:off x="2852928" y="2880360"/>
            <a:ext cx="2029968" cy="30632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035808" y="3063240"/>
            <a:ext cx="166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Greece &amp; Rome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035808" y="3886200"/>
            <a:ext cx="16642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Called herba sacra, the “sacred herb.” Doctors Dioscorides and Pliny wrote about it.</a:t>
            </a:r>
            <a:endParaRPr lang="en-US" sz="1400" dirty="0"/>
          </a:p>
        </p:txBody>
      </p:sp>
      <p:sp>
        <p:nvSpPr>
          <p:cNvPr id="14" name="Timeline 3 circle"/>
          <p:cNvSpPr/>
          <p:nvPr/>
        </p:nvSpPr>
        <p:spPr>
          <a:xfrm>
            <a:off x="5623560" y="169164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Timelin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920240"/>
            <a:ext cx="457200" cy="457200"/>
          </a:xfrm>
          <a:prstGeom prst="rect">
            <a:avLst/>
          </a:prstGeom>
        </p:spPr>
      </p:pic>
      <p:sp>
        <p:nvSpPr>
          <p:cNvPr id="16" name="Timeline card 3"/>
          <p:cNvSpPr/>
          <p:nvPr/>
        </p:nvSpPr>
        <p:spPr>
          <a:xfrm>
            <a:off x="5065776" y="2880360"/>
            <a:ext cx="2029968" cy="30632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5248656" y="3063240"/>
            <a:ext cx="166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812 AD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248656" y="3886200"/>
            <a:ext cx="16642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Emperor Charlemagne ordered sage grown on his royal farms across Europe.</a:t>
            </a:r>
            <a:endParaRPr lang="en-US" sz="1400" dirty="0"/>
          </a:p>
        </p:txBody>
      </p:sp>
      <p:sp>
        <p:nvSpPr>
          <p:cNvPr id="19" name="Timeline 4 circle"/>
          <p:cNvSpPr/>
          <p:nvPr/>
        </p:nvSpPr>
        <p:spPr>
          <a:xfrm>
            <a:off x="7836408" y="169164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Timelin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1920240"/>
            <a:ext cx="457200" cy="457200"/>
          </a:xfrm>
          <a:prstGeom prst="rect">
            <a:avLst/>
          </a:prstGeom>
        </p:spPr>
      </p:pic>
      <p:sp>
        <p:nvSpPr>
          <p:cNvPr id="21" name="Timeline card 4"/>
          <p:cNvSpPr/>
          <p:nvPr/>
        </p:nvSpPr>
        <p:spPr>
          <a:xfrm>
            <a:off x="7278624" y="2880360"/>
            <a:ext cx="2029968" cy="30632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7461504" y="3063240"/>
            <a:ext cx="166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Middle Ages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7461504" y="3886200"/>
            <a:ext cx="16642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famous saying: “Why should a man die while sage grows in his garden?”</a:t>
            </a:r>
            <a:endParaRPr lang="en-US" sz="1400" dirty="0"/>
          </a:p>
        </p:txBody>
      </p:sp>
      <p:sp>
        <p:nvSpPr>
          <p:cNvPr id="24" name="Timeline 5 circle"/>
          <p:cNvSpPr/>
          <p:nvPr/>
        </p:nvSpPr>
        <p:spPr>
          <a:xfrm>
            <a:off x="10049256" y="169164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Timelin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1920240"/>
            <a:ext cx="457200" cy="457200"/>
          </a:xfrm>
          <a:prstGeom prst="rect">
            <a:avLst/>
          </a:prstGeom>
        </p:spPr>
      </p:pic>
      <p:sp>
        <p:nvSpPr>
          <p:cNvPr id="26" name="Timeline card 5"/>
          <p:cNvSpPr/>
          <p:nvPr/>
        </p:nvSpPr>
        <p:spPr>
          <a:xfrm>
            <a:off x="9491472" y="2880360"/>
            <a:ext cx="2029968" cy="30632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27" name="Text 20"/>
          <p:cNvSpPr txBox="1"/>
          <p:nvPr/>
        </p:nvSpPr>
        <p:spPr>
          <a:xfrm>
            <a:off x="9674352" y="3063240"/>
            <a:ext cx="166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1600s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9674352" y="3886200"/>
            <a:ext cx="16642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Dutch traders swapped sage with China — sometimes 3 chests of tea for 1 of sage.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Sage in the Americas</a:t>
            </a:r>
            <a:endParaRPr lang="en-US" sz="3600" dirty="0"/>
          </a:p>
        </p:txBody>
      </p:sp>
      <p:sp>
        <p:nvSpPr>
          <p:cNvPr id="3" name="Quote panel"/>
          <p:cNvSpPr/>
          <p:nvPr/>
        </p:nvSpPr>
        <p:spPr>
          <a:xfrm>
            <a:off x="548640" y="1463040"/>
            <a:ext cx="4937760" cy="4480560"/>
          </a:xfrm>
          <a:prstGeom prst="roundRect">
            <a:avLst>
              <a:gd name="adj" fmla="val 244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4" name="Americas circle"/>
          <p:cNvSpPr/>
          <p:nvPr/>
        </p:nvSpPr>
        <p:spPr>
          <a:xfrm>
            <a:off x="914400" y="182880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America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03454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88036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thousands of years, Native peoples of the American West have gathered white sage for prayer, healing and ceremony.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50292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Nations including the Chumash, Cahuilla, Tongva and Kumeyaay</a:t>
            </a:r>
            <a:endParaRPr lang="en-US" sz="1300" dirty="0"/>
          </a:p>
        </p:txBody>
      </p:sp>
      <p:sp>
        <p:nvSpPr>
          <p:cNvPr id="8" name="Fact card 1"/>
          <p:cNvSpPr/>
          <p:nvPr/>
        </p:nvSpPr>
        <p:spPr>
          <a:xfrm>
            <a:off x="5852160" y="1463040"/>
            <a:ext cx="576072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080760" y="1463040"/>
            <a:ext cx="731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0" y="155448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Native home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White sage grows wild in the coastal hills and deserts of Southern California and Baja California, Mexico.</a:t>
            </a:r>
            <a:endParaRPr lang="en-US" sz="1600" dirty="0"/>
          </a:p>
        </p:txBody>
      </p:sp>
      <p:sp>
        <p:nvSpPr>
          <p:cNvPr id="11" name="Fact card 2"/>
          <p:cNvSpPr/>
          <p:nvPr/>
        </p:nvSpPr>
        <p:spPr>
          <a:xfrm>
            <a:off x="5852160" y="3017520"/>
            <a:ext cx="576072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080760" y="3017520"/>
            <a:ext cx="731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0" y="310896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Many sages, many nations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Across North America, nations used local sages such as sagebrush (Artemisia) on the Plains.</a:t>
            </a:r>
            <a:endParaRPr lang="en-US" sz="1600" dirty="0"/>
          </a:p>
        </p:txBody>
      </p:sp>
      <p:sp>
        <p:nvSpPr>
          <p:cNvPr id="14" name="Fact card 3"/>
          <p:cNvSpPr/>
          <p:nvPr/>
        </p:nvSpPr>
        <p:spPr>
          <a:xfrm>
            <a:off x="5852160" y="4572000"/>
            <a:ext cx="576072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080760" y="4572000"/>
            <a:ext cx="731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466344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Banned, then protected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From 1883, U.S. law banned many Native ceremonies. In 1978 the American Indian Religious Freedom Act protected them again.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18872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74320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The Many Uses of Sage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48056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In the kitchen, the medicine cabinet, the garden and the ceremony</a:t>
            </a:r>
            <a:endParaRPr lang="en-US" sz="1800" dirty="0"/>
          </a:p>
        </p:txBody>
      </p:sp>
      <p:pic>
        <p:nvPicPr>
          <p:cNvPr id="5" name="Mortar art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8138160" y="146304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Six ways people use sage</a:t>
            </a:r>
            <a:endParaRPr lang="en-US" sz="3600" dirty="0"/>
          </a:p>
        </p:txBody>
      </p:sp>
      <p:sp>
        <p:nvSpPr>
          <p:cNvPr id="3" name="Use card 1"/>
          <p:cNvSpPr/>
          <p:nvPr/>
        </p:nvSpPr>
        <p:spPr>
          <a:xfrm>
            <a:off x="548640" y="146304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4" name="Cooking circle"/>
          <p:cNvSpPr/>
          <p:nvPr/>
        </p:nvSpPr>
        <p:spPr>
          <a:xfrm>
            <a:off x="822960" y="173736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Cooking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90881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7373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Cooking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Seasons stuffing, sausages, pasta and roasted vegetables with an earthy flavor.</a:t>
            </a:r>
            <a:endParaRPr lang="en-US" sz="1400" dirty="0"/>
          </a:p>
        </p:txBody>
      </p:sp>
      <p:sp>
        <p:nvSpPr>
          <p:cNvPr id="8" name="Use card 2"/>
          <p:cNvSpPr/>
          <p:nvPr/>
        </p:nvSpPr>
        <p:spPr>
          <a:xfrm>
            <a:off x="4320540" y="146304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9" name="Medicine circle"/>
          <p:cNvSpPr/>
          <p:nvPr/>
        </p:nvSpPr>
        <p:spPr>
          <a:xfrm>
            <a:off x="4594860" y="173736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Medicin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310" y="190881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63540" y="17373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Medicine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594860" y="256032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Sage tea and gargles were used for sore throats, coughs and upset stomachs.</a:t>
            </a:r>
            <a:endParaRPr lang="en-US" sz="1400" dirty="0"/>
          </a:p>
        </p:txBody>
      </p:sp>
      <p:sp>
        <p:nvSpPr>
          <p:cNvPr id="13" name="Use card 3"/>
          <p:cNvSpPr/>
          <p:nvPr/>
        </p:nvSpPr>
        <p:spPr>
          <a:xfrm>
            <a:off x="8092440" y="146304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14" name="Ceremony circle"/>
          <p:cNvSpPr/>
          <p:nvPr/>
        </p:nvSpPr>
        <p:spPr>
          <a:xfrm>
            <a:off x="8366760" y="173736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Ceremony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8210" y="190881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35440" y="17373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Ceremony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66760" y="256032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Burned in “smudging” to cleanse people and places and to carry prayers.</a:t>
            </a:r>
            <a:endParaRPr lang="en-US" sz="1400" dirty="0"/>
          </a:p>
        </p:txBody>
      </p:sp>
      <p:sp>
        <p:nvSpPr>
          <p:cNvPr id="18" name="Use card 4"/>
          <p:cNvSpPr/>
          <p:nvPr/>
        </p:nvSpPr>
        <p:spPr>
          <a:xfrm>
            <a:off x="548640" y="393192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19" name="Gardens circle"/>
          <p:cNvSpPr/>
          <p:nvPr/>
        </p:nvSpPr>
        <p:spPr>
          <a:xfrm>
            <a:off x="822960" y="42062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Gardens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10" y="437769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1640" y="420624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Gardens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0292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Its purple-blue flowers feed bees, butterflies and hummingbirds.</a:t>
            </a:r>
            <a:endParaRPr lang="en-US" sz="1400" dirty="0"/>
          </a:p>
        </p:txBody>
      </p:sp>
      <p:sp>
        <p:nvSpPr>
          <p:cNvPr id="23" name="Use card 5"/>
          <p:cNvSpPr/>
          <p:nvPr/>
        </p:nvSpPr>
        <p:spPr>
          <a:xfrm>
            <a:off x="4320540" y="393192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24" name="Household circle"/>
          <p:cNvSpPr/>
          <p:nvPr/>
        </p:nvSpPr>
        <p:spPr>
          <a:xfrm>
            <a:off x="4594860" y="420624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Household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6310" y="4377690"/>
            <a:ext cx="342900" cy="3429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63540" y="420624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Household</a:t>
            </a:r>
            <a:endParaRPr lang="en-US" sz="2000" dirty="0"/>
          </a:p>
        </p:txBody>
      </p:sp>
      <p:sp>
        <p:nvSpPr>
          <p:cNvPr id="27" name="Text 20"/>
          <p:cNvSpPr txBox="1"/>
          <p:nvPr/>
        </p:nvSpPr>
        <p:spPr>
          <a:xfrm>
            <a:off x="4594860" y="50292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Hung in homes to freshen the air and help keep insects away.</a:t>
            </a:r>
            <a:endParaRPr lang="en-US" sz="1400" dirty="0"/>
          </a:p>
        </p:txBody>
      </p:sp>
      <p:sp>
        <p:nvSpPr>
          <p:cNvPr id="28" name="Use card 6"/>
          <p:cNvSpPr/>
          <p:nvPr/>
        </p:nvSpPr>
        <p:spPr>
          <a:xfrm>
            <a:off x="8092440" y="3931920"/>
            <a:ext cx="35204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29" name="Personal care circle"/>
          <p:cNvSpPr/>
          <p:nvPr/>
        </p:nvSpPr>
        <p:spPr>
          <a:xfrm>
            <a:off x="8366760" y="42062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0" name="Personal care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8210" y="4377690"/>
            <a:ext cx="342900" cy="3429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235440" y="420624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 care</a:t>
            </a:r>
            <a:endParaRPr lang="en-US" sz="2000" dirty="0"/>
          </a:p>
        </p:txBody>
      </p:sp>
      <p:sp>
        <p:nvSpPr>
          <p:cNvPr id="32" name="Text 24"/>
          <p:cNvSpPr txBox="1"/>
          <p:nvPr/>
        </p:nvSpPr>
        <p:spPr>
          <a:xfrm>
            <a:off x="8366760" y="50292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Found in soaps, deodorants and natural mouthwashes for its clean scent.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Tradition meets science</a:t>
            </a:r>
            <a:endParaRPr lang="en-US" sz="3600" dirty="0"/>
          </a:p>
        </p:txBody>
      </p:sp>
      <p:sp>
        <p:nvSpPr>
          <p:cNvPr id="3" name="Column card 1"/>
          <p:cNvSpPr/>
          <p:nvPr/>
        </p:nvSpPr>
        <p:spPr>
          <a:xfrm>
            <a:off x="548640" y="1463040"/>
            <a:ext cx="5349240" cy="4480560"/>
          </a:xfrm>
          <a:prstGeom prst="roundRect">
            <a:avLst>
              <a:gd name="adj" fmla="val 244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4" name="Traditional healing circle"/>
          <p:cNvSpPr/>
          <p:nvPr/>
        </p:nvSpPr>
        <p:spPr>
          <a:xfrm>
            <a:off x="914400" y="17830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Traditional healing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197739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74520" y="178308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Traditional healing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83464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Tea or gargle for sore throats and mouth sores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Helping digestion and calming upset stomachs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Cleaning wounds and soothing skin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Supporting memory — “sage” also means wise</a:t>
            </a:r>
            <a:endParaRPr lang="en-US" sz="1600" dirty="0"/>
          </a:p>
        </p:txBody>
      </p:sp>
      <p:sp>
        <p:nvSpPr>
          <p:cNvPr id="8" name="Column card 2"/>
          <p:cNvSpPr/>
          <p:nvPr/>
        </p:nvSpPr>
        <p:spPr>
          <a:xfrm>
            <a:off x="6263640" y="1463040"/>
            <a:ext cx="5349240" cy="4480560"/>
          </a:xfrm>
          <a:prstGeom prst="roundRect">
            <a:avLst>
              <a:gd name="adj" fmla="val 244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9" name="What scientists study today circle"/>
          <p:cNvSpPr/>
          <p:nvPr/>
        </p:nvSpPr>
        <p:spPr>
          <a:xfrm>
            <a:off x="6629400" y="178308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What scientists study today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3710" y="1977390"/>
            <a:ext cx="388620" cy="3886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589520" y="178308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scientists study today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629400" y="283464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Antioxidants such as rosmarinic acid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Fighting some bacteria (antimicrobial effects)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Small studies on memory and focus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More research is still needed to be sure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18872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74320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Sage &amp; the Medicine Bag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48056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Why a Native American might carry sage close to the heart</a:t>
            </a:r>
            <a:endParaRPr lang="en-US" sz="1800" dirty="0"/>
          </a:p>
        </p:txBody>
      </p:sp>
      <p:pic>
        <p:nvPicPr>
          <p:cNvPr id="5" name="Bag art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8138160" y="146304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is a medicine bag?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120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medicine bag is a small pouch, often made of leather, that a person wears around the neck or carries with them.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“Medicine” here means more than pills — it means spiritual power, protection and well-being.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Its contents are personal and sacred. They are usually kept private and are not shown to others.</a:t>
            </a:r>
            <a:endParaRPr lang="en-US" sz="1800" dirty="0"/>
          </a:p>
        </p:txBody>
      </p:sp>
      <p:sp>
        <p:nvSpPr>
          <p:cNvPr id="4" name="Contents panel"/>
          <p:cNvSpPr/>
          <p:nvPr/>
        </p:nvSpPr>
        <p:spPr>
          <a:xfrm>
            <a:off x="6126480" y="1463040"/>
            <a:ext cx="5486400" cy="4480560"/>
          </a:xfrm>
          <a:prstGeom prst="roundRect">
            <a:avLst>
              <a:gd name="adj" fmla="val 244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0" y="16916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Items that may be inside</a:t>
            </a:r>
            <a:endParaRPr lang="en-US" sz="2000" dirty="0"/>
          </a:p>
        </p:txBody>
      </p:sp>
      <p:sp>
        <p:nvSpPr>
          <p:cNvPr id="6" name="Sage circle"/>
          <p:cNvSpPr/>
          <p:nvPr/>
        </p:nvSpPr>
        <p:spPr>
          <a:xfrm>
            <a:off x="6766560" y="242316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Sag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3730" y="2640330"/>
            <a:ext cx="434340" cy="4343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0" y="33832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Sage</a:t>
            </a:r>
            <a:endParaRPr lang="en-US" sz="1400" dirty="0"/>
          </a:p>
        </p:txBody>
      </p:sp>
      <p:sp>
        <p:nvSpPr>
          <p:cNvPr id="9" name="Tobacco circle"/>
          <p:cNvSpPr/>
          <p:nvPr/>
        </p:nvSpPr>
        <p:spPr>
          <a:xfrm>
            <a:off x="8458200" y="242316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Tobacco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5370" y="2640330"/>
            <a:ext cx="434340" cy="4343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092440" y="33832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Tobacco</a:t>
            </a:r>
            <a:endParaRPr lang="en-US" sz="1400" dirty="0"/>
          </a:p>
        </p:txBody>
      </p:sp>
      <p:sp>
        <p:nvSpPr>
          <p:cNvPr id="12" name="Sweetgrass circle"/>
          <p:cNvSpPr/>
          <p:nvPr/>
        </p:nvSpPr>
        <p:spPr>
          <a:xfrm>
            <a:off x="10149840" y="242316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Sweetgras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7010" y="2640330"/>
            <a:ext cx="434340" cy="4343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784080" y="33832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Sweetgrass</a:t>
            </a:r>
            <a:endParaRPr lang="en-US" sz="1400" dirty="0"/>
          </a:p>
        </p:txBody>
      </p:sp>
      <p:sp>
        <p:nvSpPr>
          <p:cNvPr id="15" name="Cedar circle"/>
          <p:cNvSpPr/>
          <p:nvPr/>
        </p:nvSpPr>
        <p:spPr>
          <a:xfrm>
            <a:off x="6766560" y="4160520"/>
            <a:ext cx="868680" cy="8686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edar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3730" y="4377690"/>
            <a:ext cx="434340" cy="4343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400800" y="51206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Cedar</a:t>
            </a:r>
            <a:endParaRPr lang="en-US" sz="1400" dirty="0"/>
          </a:p>
        </p:txBody>
      </p:sp>
      <p:sp>
        <p:nvSpPr>
          <p:cNvPr id="18" name="Feathers circle"/>
          <p:cNvSpPr/>
          <p:nvPr/>
        </p:nvSpPr>
        <p:spPr>
          <a:xfrm>
            <a:off x="8458200" y="416052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9" name="Feathers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5370" y="4377690"/>
            <a:ext cx="434340" cy="4343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092440" y="51206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Feathers</a:t>
            </a:r>
            <a:endParaRPr lang="en-US" sz="1400" dirty="0"/>
          </a:p>
        </p:txBody>
      </p:sp>
      <p:sp>
        <p:nvSpPr>
          <p:cNvPr id="21" name="Personal items circle"/>
          <p:cNvSpPr/>
          <p:nvPr/>
        </p:nvSpPr>
        <p:spPr>
          <a:xfrm>
            <a:off x="10149840" y="4160520"/>
            <a:ext cx="868680" cy="8686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Personal items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7010" y="4377690"/>
            <a:ext cx="434340" cy="43434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9784080" y="51206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Personal items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Why sage belongs in the bag</a:t>
            </a:r>
            <a:endParaRPr lang="en-US" sz="3600" dirty="0"/>
          </a:p>
        </p:txBody>
      </p:sp>
      <p:sp>
        <p:nvSpPr>
          <p:cNvPr id="3" name="Reason card 1"/>
          <p:cNvSpPr/>
          <p:nvPr/>
        </p:nvSpPr>
        <p:spPr>
          <a:xfrm>
            <a:off x="548640" y="1463040"/>
            <a:ext cx="2606040" cy="374904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4" name="Purification circle"/>
          <p:cNvSpPr/>
          <p:nvPr/>
        </p:nvSpPr>
        <p:spPr>
          <a:xfrm>
            <a:off x="822960" y="173736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urifica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193167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Purification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21031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Sage is believed to cleanse away negative energy, bad feelings and illness.</a:t>
            </a:r>
            <a:endParaRPr lang="en-US" sz="1400" dirty="0"/>
          </a:p>
        </p:txBody>
      </p:sp>
      <p:sp>
        <p:nvSpPr>
          <p:cNvPr id="8" name="Reason card 2"/>
          <p:cNvSpPr/>
          <p:nvPr/>
        </p:nvSpPr>
        <p:spPr>
          <a:xfrm>
            <a:off x="3383280" y="1463040"/>
            <a:ext cx="2606040" cy="374904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9" name="Protection circle"/>
          <p:cNvSpPr/>
          <p:nvPr/>
        </p:nvSpPr>
        <p:spPr>
          <a:xfrm>
            <a:off x="3657600" y="173736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Protection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1910" y="1931670"/>
            <a:ext cx="388620" cy="3886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5760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Protection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3200400"/>
            <a:ext cx="21031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Carrying sage is thought to guard the wearer from harm and negative spirits.</a:t>
            </a:r>
            <a:endParaRPr lang="en-US" sz="1400" dirty="0"/>
          </a:p>
        </p:txBody>
      </p:sp>
      <p:sp>
        <p:nvSpPr>
          <p:cNvPr id="13" name="Reason card 3"/>
          <p:cNvSpPr/>
          <p:nvPr/>
        </p:nvSpPr>
        <p:spPr>
          <a:xfrm>
            <a:off x="6217920" y="1463040"/>
            <a:ext cx="2606040" cy="374904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14" name="Prayer circle"/>
          <p:cNvSpPr/>
          <p:nvPr/>
        </p:nvSpPr>
        <p:spPr>
          <a:xfrm>
            <a:off x="6492240" y="1737360"/>
            <a:ext cx="777240" cy="7772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Prayer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550" y="1931670"/>
            <a:ext cx="388620" cy="3886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9224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Prayer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492240" y="3200400"/>
            <a:ext cx="21031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Its smoke carries prayers to the Creator, so it keeps the wearer connected to the spirit world.</a:t>
            </a:r>
            <a:endParaRPr lang="en-US" sz="1400" dirty="0"/>
          </a:p>
        </p:txBody>
      </p:sp>
      <p:sp>
        <p:nvSpPr>
          <p:cNvPr id="18" name="Reason card 4"/>
          <p:cNvSpPr/>
          <p:nvPr/>
        </p:nvSpPr>
        <p:spPr>
          <a:xfrm>
            <a:off x="9052560" y="1463040"/>
            <a:ext cx="2606040" cy="374904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19" name="Healing circle"/>
          <p:cNvSpPr/>
          <p:nvPr/>
        </p:nvSpPr>
        <p:spPr>
          <a:xfrm>
            <a:off x="9326880" y="173736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Healing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1190" y="1931670"/>
            <a:ext cx="388620" cy="3886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2688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Healing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326880" y="3200400"/>
            <a:ext cx="21031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Sage is a medicine plant, so carrying it keeps healing power close to the body.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Remember: </a:t>
            </a:r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beliefs differ from nation to nation — these are common teachings, not one rule for everyone.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One of the Four Sacred Medicines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Many nations, such as the Anishinaabe, teach about four sacred plant medicines. Sage is one of them.</a:t>
            </a:r>
            <a:endParaRPr lang="en-US" sz="1600" dirty="0"/>
          </a:p>
        </p:txBody>
      </p:sp>
      <p:sp>
        <p:nvSpPr>
          <p:cNvPr id="4" name="Medicine card 1"/>
          <p:cNvSpPr/>
          <p:nvPr/>
        </p:nvSpPr>
        <p:spPr>
          <a:xfrm>
            <a:off x="548640" y="2011680"/>
            <a:ext cx="2606040" cy="393192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5" name="Tobacco circle"/>
          <p:cNvSpPr/>
          <p:nvPr/>
        </p:nvSpPr>
        <p:spPr>
          <a:xfrm>
            <a:off x="1280160" y="2377440"/>
            <a:ext cx="1143000" cy="11430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Tobacc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5910" y="2663190"/>
            <a:ext cx="571500" cy="5715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37033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Tobacco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9768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first medicine. Offered with prayers and thanks.</a:t>
            </a:r>
            <a:endParaRPr lang="en-US" sz="1400" dirty="0"/>
          </a:p>
        </p:txBody>
      </p:sp>
      <p:sp>
        <p:nvSpPr>
          <p:cNvPr id="9" name="Medicine card 2"/>
          <p:cNvSpPr/>
          <p:nvPr/>
        </p:nvSpPr>
        <p:spPr>
          <a:xfrm>
            <a:off x="3383280" y="2011680"/>
            <a:ext cx="2606040" cy="393192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10" name="Sweetgrass circle"/>
          <p:cNvSpPr/>
          <p:nvPr/>
        </p:nvSpPr>
        <p:spPr>
          <a:xfrm>
            <a:off x="4114800" y="2377440"/>
            <a:ext cx="1143000" cy="11430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1" name="Sweetgras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0550" y="2663190"/>
            <a:ext cx="571500" cy="5715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66160" y="37033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Sweetgrass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429768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Brings kindness and attracts good energy.</a:t>
            </a:r>
            <a:endParaRPr lang="en-US" sz="1400" dirty="0"/>
          </a:p>
        </p:txBody>
      </p:sp>
      <p:sp>
        <p:nvSpPr>
          <p:cNvPr id="14" name="Medicine card 3"/>
          <p:cNvSpPr/>
          <p:nvPr/>
        </p:nvSpPr>
        <p:spPr>
          <a:xfrm>
            <a:off x="6217920" y="2011680"/>
            <a:ext cx="2606040" cy="3931920"/>
          </a:xfrm>
          <a:prstGeom prst="roundRect">
            <a:avLst>
              <a:gd name="adj" fmla="val 42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15" name="Sage circle"/>
          <p:cNvSpPr/>
          <p:nvPr/>
        </p:nvSpPr>
        <p:spPr>
          <a:xfrm>
            <a:off x="6949440" y="2377440"/>
            <a:ext cx="1143000" cy="11430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Sage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5190" y="2663190"/>
            <a:ext cx="571500" cy="5715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00800" y="37033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Sage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6492240" y="429768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Cleanses and removes negative energy.</a:t>
            </a:r>
            <a:endParaRPr lang="en-US" sz="1400" dirty="0"/>
          </a:p>
        </p:txBody>
      </p:sp>
      <p:sp>
        <p:nvSpPr>
          <p:cNvPr id="19" name="Medicine card 4"/>
          <p:cNvSpPr/>
          <p:nvPr/>
        </p:nvSpPr>
        <p:spPr>
          <a:xfrm>
            <a:off x="9052560" y="2011680"/>
            <a:ext cx="2606040" cy="393192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20" name="Cedar circle"/>
          <p:cNvSpPr/>
          <p:nvPr/>
        </p:nvSpPr>
        <p:spPr>
          <a:xfrm>
            <a:off x="9784080" y="2377440"/>
            <a:ext cx="1143000" cy="11430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1" name="Cedar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69830" y="2663190"/>
            <a:ext cx="571500" cy="5715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235440" y="37033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</a:t>
            </a:r>
            <a:endParaRPr lang="en-US" sz="2200" dirty="0"/>
          </a:p>
        </p:txBody>
      </p:sp>
      <p:sp>
        <p:nvSpPr>
          <p:cNvPr id="23" name="Text 17"/>
          <p:cNvSpPr txBox="1"/>
          <p:nvPr/>
        </p:nvSpPr>
        <p:spPr>
          <a:xfrm>
            <a:off x="9326880" y="429768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Purifies and protects the home and body.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Using sage with respect</a:t>
            </a:r>
            <a:endParaRPr lang="en-US" sz="3600" dirty="0"/>
          </a:p>
        </p:txBody>
      </p:sp>
      <p:sp>
        <p:nvSpPr>
          <p:cNvPr id="3" name="Warning panel"/>
          <p:cNvSpPr/>
          <p:nvPr/>
        </p:nvSpPr>
        <p:spPr>
          <a:xfrm>
            <a:off x="548640" y="1463040"/>
            <a:ext cx="3657600" cy="4480560"/>
          </a:xfrm>
          <a:prstGeom prst="roundRect">
            <a:avLst>
              <a:gd name="adj" fmla="val 3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4" name="Respect circle"/>
          <p:cNvSpPr/>
          <p:nvPr/>
        </p:nvSpPr>
        <p:spPr>
          <a:xfrm>
            <a:off x="868680" y="178308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Respe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198882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white sage is so popular that wild plants are being over-picked, and sacred traditions are sometimes sold as a trend.</a:t>
            </a:r>
            <a:endParaRPr lang="en-US" sz="1800" dirty="0"/>
          </a:p>
        </p:txBody>
      </p:sp>
      <p:sp>
        <p:nvSpPr>
          <p:cNvPr id="7" name="Tip card 1"/>
          <p:cNvSpPr/>
          <p:nvPr/>
        </p:nvSpPr>
        <p:spPr>
          <a:xfrm>
            <a:off x="4572000" y="1463040"/>
            <a:ext cx="338328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8" name="Grow your own circle"/>
          <p:cNvSpPr/>
          <p:nvPr/>
        </p:nvSpPr>
        <p:spPr>
          <a:xfrm>
            <a:off x="484632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Grow your own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89738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623560" y="17373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Grow your own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4846320" y="25146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Garden sage is easy to grow at home in a sunny spot.</a:t>
            </a:r>
            <a:endParaRPr lang="en-US" sz="1400" dirty="0"/>
          </a:p>
        </p:txBody>
      </p:sp>
      <p:sp>
        <p:nvSpPr>
          <p:cNvPr id="12" name="Tip card 2"/>
          <p:cNvSpPr/>
          <p:nvPr/>
        </p:nvSpPr>
        <p:spPr>
          <a:xfrm>
            <a:off x="8183880" y="1463040"/>
            <a:ext cx="338328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13" name="Support Native growers circle"/>
          <p:cNvSpPr/>
          <p:nvPr/>
        </p:nvSpPr>
        <p:spPr>
          <a:xfrm>
            <a:off x="845820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Support Native grower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220" y="1897380"/>
            <a:ext cx="320040" cy="3200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235440" y="17373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Support Native growers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458200" y="25146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Buy from Native-owned businesses that harvest sage carefully.</a:t>
            </a:r>
            <a:endParaRPr lang="en-US" sz="1400" dirty="0"/>
          </a:p>
        </p:txBody>
      </p:sp>
      <p:sp>
        <p:nvSpPr>
          <p:cNvPr id="17" name="Tip card 3"/>
          <p:cNvSpPr/>
          <p:nvPr/>
        </p:nvSpPr>
        <p:spPr>
          <a:xfrm>
            <a:off x="4572000" y="3794760"/>
            <a:ext cx="338328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18" name="Never pick wild sage circle"/>
          <p:cNvSpPr/>
          <p:nvPr/>
        </p:nvSpPr>
        <p:spPr>
          <a:xfrm>
            <a:off x="4846320" y="40690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Never pick wild sage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4229100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623560" y="4069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Never pick wild sage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4846320" y="48463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Leave wild white sage for nature and for Native communities.</a:t>
            </a:r>
            <a:endParaRPr lang="en-US" sz="1400" dirty="0"/>
          </a:p>
        </p:txBody>
      </p:sp>
      <p:sp>
        <p:nvSpPr>
          <p:cNvPr id="22" name="Tip card 4"/>
          <p:cNvSpPr/>
          <p:nvPr/>
        </p:nvSpPr>
        <p:spPr>
          <a:xfrm>
            <a:off x="8183880" y="3794760"/>
            <a:ext cx="338328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1F2B24">
                <a:alpha val="10000"/>
              </a:srgbClr>
            </a:outerShdw>
          </a:effectLst>
        </p:spPr>
      </p:sp>
      <p:sp>
        <p:nvSpPr>
          <p:cNvPr id="23" name="Learn before you use circle"/>
          <p:cNvSpPr/>
          <p:nvPr/>
        </p:nvSpPr>
        <p:spPr>
          <a:xfrm>
            <a:off x="8458200" y="40690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Learn before you use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8220" y="4229100"/>
            <a:ext cx="320040" cy="3200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235440" y="4069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Learn before you use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8458200" y="48463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Smudging is a sacred practice, not a decoration or a fashion.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4400" dirty="0"/>
          </a:p>
        </p:txBody>
      </p:sp>
      <p:sp>
        <p:nvSpPr>
          <p:cNvPr id="3" name="Takeaway card 1"/>
          <p:cNvSpPr/>
          <p:nvPr/>
        </p:nvSpPr>
        <p:spPr>
          <a:xfrm>
            <a:off x="822960" y="2011680"/>
            <a:ext cx="3337560" cy="3566160"/>
          </a:xfrm>
          <a:prstGeom prst="roundRect">
            <a:avLst>
              <a:gd name="adj" fmla="val 328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22860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32004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plant with a long history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39776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Sage has been valued for over 2,000 years, from Egypt and Rome to the Native nations of the Americas.</a:t>
            </a:r>
            <a:endParaRPr lang="en-US" sz="1400" dirty="0"/>
          </a:p>
        </p:txBody>
      </p:sp>
      <p:sp>
        <p:nvSpPr>
          <p:cNvPr id="7" name="Takeaway card 2"/>
          <p:cNvSpPr/>
          <p:nvPr/>
        </p:nvSpPr>
        <p:spPr>
          <a:xfrm>
            <a:off x="4480560" y="2011680"/>
            <a:ext cx="3337560" cy="3566160"/>
          </a:xfrm>
          <a:prstGeom prst="roundRect">
            <a:avLst>
              <a:gd name="adj" fmla="val 328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22860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32004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Many everyday uses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39776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People use it for cooking, medicine, gardens, the home and personal care.</a:t>
            </a:r>
            <a:endParaRPr lang="en-US" sz="1400" dirty="0"/>
          </a:p>
        </p:txBody>
      </p:sp>
      <p:sp>
        <p:nvSpPr>
          <p:cNvPr id="11" name="Takeaway card 3"/>
          <p:cNvSpPr/>
          <p:nvPr/>
        </p:nvSpPr>
        <p:spPr>
          <a:xfrm>
            <a:off x="8138160" y="2011680"/>
            <a:ext cx="3337560" cy="3566160"/>
          </a:xfrm>
          <a:prstGeom prst="roundRect">
            <a:avLst>
              <a:gd name="adj" fmla="val 328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58200" y="22860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32004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Sacred and protective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39776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In a medicine bag, sage stands for purification, protection, prayer and healing.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9436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4"/>
                </a:solidFill>
              </a:rPr>
              <a:t>Thank you!  ·  Abdullah Masoud &amp; Karim Ahmed Hachicho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Sources</a:t>
            </a:r>
            <a:endParaRPr lang="en-US" sz="3600" dirty="0"/>
          </a:p>
        </p:txBody>
      </p:sp>
      <p:sp>
        <p:nvSpPr>
          <p:cNvPr id="3" name="Sources circle"/>
          <p:cNvSpPr/>
          <p:nvPr/>
        </p:nvSpPr>
        <p:spPr>
          <a:xfrm>
            <a:off x="548640" y="155448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760220"/>
            <a:ext cx="411480" cy="411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554480"/>
            <a:ext cx="98755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Britannica — “Sage (plant)”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Missouri Botanical Garden — Plant Finder: Salvia officinalis and Salvia apiana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National Park Service — American Indian Religious Freedom Act (1978)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Native Women’s Wilderness — “The Four Sacred Medicines”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United Plant Savers — White Sage (Salvia apiana) conservation notes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Lopresti, A. L. (2017). “Salvia (Sage): A Review of its Potential Cognitive-Enhancing and Protective Effects.” Drugs in R&amp;D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cred Sage">
  <a:themeElements>
    <a:clrScheme name="Sacred Sage">
      <a:dk1>
        <a:srgbClr val="1F2B24"/>
      </a:dk1>
      <a:lt1>
        <a:srgbClr val="FFFFFF"/>
      </a:lt1>
      <a:dk2>
        <a:srgbClr val="4A5A50"/>
      </a:dk2>
      <a:lt2>
        <a:srgbClr val="F3F6F1"/>
      </a:lt2>
      <a:accent1>
        <a:srgbClr val="5E8165"/>
      </a:accent1>
      <a:accent2>
        <a:srgbClr val="7E6BA6"/>
      </a:accent2>
      <a:accent3>
        <a:srgbClr val="B9824F"/>
      </a:accent3>
      <a:accent4>
        <a:srgbClr val="A9C2AA"/>
      </a:accent4>
      <a:accent5>
        <a:srgbClr val="DCE6D9"/>
      </a:accent5>
      <a:accent6>
        <a:srgbClr val="E7E1F0"/>
      </a:accent6>
      <a:hlink>
        <a:srgbClr val="5E8165"/>
      </a:hlink>
      <a:folHlink>
        <a:srgbClr val="7E6BA6"/>
      </a:folHlink>
    </a:clrScheme>
    <a:fontScheme name="Sacred Sag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Sacred Sage</dc:title>
  <dc:subject>PptxGenJS Presentation</dc:subject>
  <dc:creator>Abdullah Masoud &amp; Karim Ahmed Hachicho</dc:creator>
  <cp:lastModifiedBy>Abdullah Masoud &amp; Karim Ahmed Hachicho</cp:lastModifiedBy>
  <cp:revision>1</cp:revision>
  <dcterms:created xsi:type="dcterms:W3CDTF">2026-10-04T05:26:52Z</dcterms:created>
  <dcterms:modified xsi:type="dcterms:W3CDTF">2026-10-04T05:26:52Z</dcterms:modified>
</cp:coreProperties>
</file>